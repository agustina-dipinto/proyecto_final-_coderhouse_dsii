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Open Sans ExtraBold"/>
      <p:bold r:id="rId17"/>
      <p:boldItalic r:id="rId18"/>
    </p:embeddedFont>
    <p:embeddedFont>
      <p:font typeface="Open Sans Light"/>
      <p:regular r:id="rId19"/>
      <p:bold r:id="rId20"/>
      <p:italic r:id="rId21"/>
      <p:boldItalic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73AB1E-6884-4545-935B-08918FBC0FD6}">
  <a:tblStyle styleId="{8E73AB1E-6884-4545-935B-08918FBC0F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bold.fntdata"/><Relationship Id="rId22" Type="http://schemas.openxmlformats.org/officeDocument/2006/relationships/font" Target="fonts/OpenSansLight-boldItalic.fntdata"/><Relationship Id="rId21" Type="http://schemas.openxmlformats.org/officeDocument/2006/relationships/font" Target="fonts/OpenSansLight-italic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OpenSansExtraBold-bold.fntdata"/><Relationship Id="rId16" Type="http://schemas.openxmlformats.org/officeDocument/2006/relationships/slide" Target="slides/slide10.xml"/><Relationship Id="rId19" Type="http://schemas.openxmlformats.org/officeDocument/2006/relationships/font" Target="fonts/OpenSansLight-regular.fntdata"/><Relationship Id="rId18" Type="http://schemas.openxmlformats.org/officeDocument/2006/relationships/font" Target="fonts/OpenSans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1fd49a947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1fd49a947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1fd49a94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1fd49a94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1fd49a94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1fd49a94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69c74924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69c74924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6d9295c0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66d9295c0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6d9295c0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66d9295c0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6d9295c0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6d9295c0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6d9295c0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66d9295c0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6d9295c0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6d9295c0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kaggle.com/datasets/jayaantanaath/student-habits-vs-academic-performance?select=student_habits_performance.csv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1C7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47325" y="841800"/>
            <a:ext cx="85206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11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Hábitos vs. </a:t>
            </a:r>
            <a:endParaRPr sz="4111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111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Rendimiento académico </a:t>
            </a:r>
            <a:endParaRPr sz="4111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515125"/>
            <a:ext cx="8520600" cy="17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s" sz="246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¿Qué impacto tienen los hábitos en el resultado de los exámenes?</a:t>
            </a:r>
            <a:endParaRPr sz="246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56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2286000" rtl="0" algn="l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es" sz="206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Autora:</a:t>
            </a:r>
            <a:r>
              <a:rPr lang="es" sz="206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Agustina Di Pinto</a:t>
            </a:r>
            <a:endParaRPr sz="206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1C75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oman is studying financial business documents at her desk (proporcionado por Getty Images)" id="60" name="Google Shape;60;p14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2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Agenda</a:t>
            </a:r>
            <a:endParaRPr sz="242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5129100" cy="20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Light"/>
              <a:buAutoNum type="arabicPeriod"/>
            </a:pPr>
            <a:r>
              <a:rPr lang="es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Introducción</a:t>
            </a:r>
            <a:endParaRPr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Light"/>
              <a:buAutoNum type="arabicPeriod"/>
            </a:pPr>
            <a:r>
              <a:rPr lang="es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Hipótesis y preguntas de interés</a:t>
            </a:r>
            <a:endParaRPr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Light"/>
              <a:buAutoNum type="arabicPeriod"/>
            </a:pPr>
            <a:r>
              <a:rPr lang="es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Resumen Dataset</a:t>
            </a:r>
            <a:endParaRPr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Light"/>
              <a:buAutoNum type="arabicPeriod"/>
            </a:pPr>
            <a:r>
              <a:rPr lang="es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Análisis Exploratorio de Datos</a:t>
            </a:r>
            <a:endParaRPr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Light"/>
              <a:buAutoNum type="arabicPeriod"/>
            </a:pPr>
            <a:r>
              <a:rPr lang="es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Insights</a:t>
            </a:r>
            <a:endParaRPr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1C75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2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Introducción</a:t>
            </a:r>
            <a:endParaRPr sz="242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 </a:t>
            </a: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partir del </a:t>
            </a:r>
            <a:r>
              <a:rPr lang="es" sz="4800" u="sng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Dataset</a:t>
            </a: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obtenido</a:t>
            </a: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en Kaggle se exploran y analizan 1000 registros sintéticos de estudiantes que contienen información sobre sus hábitos durante el cursado de una materia, y el consecuente resultado del exámen final. La información se encuentra asentada en las siguientes columnas: </a:t>
            </a:r>
            <a:endParaRPr sz="4800">
              <a:solidFill>
                <a:schemeClr val="lt1"/>
              </a:solidFill>
              <a:highlight>
                <a:srgbClr val="1E1E1E"/>
              </a:highlight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id del estudiante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edad del estudiante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género del estudiante: femenino, masculino u otro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horas de estudio promedio por día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horas diarias de uso de redes sociales 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horas diarias viendo netflix 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trabajo part time: sí o no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porcentaje de asistencia a las clases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horas de sueño 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calidad de la dieta: pobre, regular, buena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frecuencia semanal de práctica de ejercicio físico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nivel educativo de los progenitores: secundario completo, bachelor, master o desconocido.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calidad de la señal de internet: buena, regular o mala 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escala del 1 al 10 de estado de salud mental (1 bajo, 10 alto o bueno)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participación extracurricular: sí o no</a:t>
            </a:r>
            <a:endParaRPr sz="4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●"/>
            </a:pPr>
            <a:r>
              <a:rPr lang="es"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calificación en el exámen final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1C75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2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Hipótesis</a:t>
            </a:r>
            <a:r>
              <a:rPr lang="es" sz="242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 y preguntas de interés </a:t>
            </a:r>
            <a:endParaRPr sz="242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482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e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Pregunta principal:</a:t>
            </a:r>
            <a:endParaRPr b="1"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➔"/>
            </a:pPr>
            <a:r>
              <a:rPr lang="es" sz="1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¿Qué impacto tienen los </a:t>
            </a:r>
            <a:r>
              <a:rPr b="1" lang="e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hábitos/estilo de vida</a:t>
            </a:r>
            <a:r>
              <a:rPr lang="es" sz="1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en el resultado académico de los estudiantes?</a:t>
            </a:r>
            <a:endParaRPr sz="14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Preguntas secundarias:</a:t>
            </a:r>
            <a:endParaRPr b="1"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➔"/>
            </a:pPr>
            <a:r>
              <a:rPr lang="es" sz="1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¿Cómo se relaciona una </a:t>
            </a:r>
            <a:r>
              <a:rPr b="1" lang="e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vida saludable</a:t>
            </a:r>
            <a:r>
              <a:rPr lang="es" sz="1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(buena alimentación, ejercicio, sueño) con el éxito en los estudios?</a:t>
            </a:r>
            <a:endParaRPr sz="14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➔"/>
            </a:pPr>
            <a:r>
              <a:rPr lang="es" sz="1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¿Cómo afecta el tiempo dedicado a las </a:t>
            </a:r>
            <a:r>
              <a:rPr b="1" lang="e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redes sociales</a:t>
            </a:r>
            <a:r>
              <a:rPr lang="es" sz="1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y  </a:t>
            </a:r>
            <a:r>
              <a:rPr b="1" lang="e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netflix</a:t>
            </a:r>
            <a:r>
              <a:rPr lang="es" sz="1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en el resultado académico? ¿Es importante tener buen </a:t>
            </a:r>
            <a:r>
              <a:rPr b="1" lang="e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acceso a internet</a:t>
            </a:r>
            <a:r>
              <a:rPr lang="es" sz="1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para tener buenas notas?</a:t>
            </a:r>
            <a:endParaRPr sz="14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Open Sans Light"/>
              <a:buChar char="➔"/>
            </a:pPr>
            <a:r>
              <a:rPr lang="es" sz="1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¿Cuál es el </a:t>
            </a:r>
            <a:r>
              <a:rPr b="1" lang="e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hábito más determinante </a:t>
            </a:r>
            <a:r>
              <a:rPr lang="es" sz="1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para el éxito académico?</a:t>
            </a:r>
            <a:endParaRPr sz="14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University students studying in armchairs (proporcionado por Getty Images)"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0496" y="0"/>
            <a:ext cx="350350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1C75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02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Resumen Dataset </a:t>
            </a:r>
            <a:endParaRPr sz="202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graphicFrame>
        <p:nvGraphicFramePr>
          <p:cNvPr id="81" name="Google Shape;81;p17"/>
          <p:cNvGraphicFramePr/>
          <p:nvPr/>
        </p:nvGraphicFramePr>
        <p:xfrm>
          <a:off x="383350" y="264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{8E73AB1E-6884-4545-935B-08918FBC0FD6}</a:tableStyleId>
              </a:tblPr>
              <a:tblGrid>
                <a:gridCol w="1711375"/>
                <a:gridCol w="921125"/>
              </a:tblGrid>
              <a:tr h="34525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PROMEDIOS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33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Nota del exámen</a:t>
                      </a:r>
                      <a:endParaRPr sz="10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69.60 %</a:t>
                      </a:r>
                      <a:endParaRPr sz="10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330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Asistencia </a:t>
                      </a:r>
                      <a:endParaRPr sz="10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84.13 %</a:t>
                      </a:r>
                      <a:endParaRPr sz="10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416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Horas de estudio al día</a:t>
                      </a:r>
                      <a:endParaRPr sz="10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2.31</a:t>
                      </a:r>
                      <a:endParaRPr sz="10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82" name="Google Shape;82;p17"/>
          <p:cNvGraphicFramePr/>
          <p:nvPr/>
        </p:nvGraphicFramePr>
        <p:xfrm>
          <a:off x="716675" y="152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{8E73AB1E-6884-4545-935B-08918FBC0FD6}</a:tableStyleId>
              </a:tblPr>
              <a:tblGrid>
                <a:gridCol w="1751125"/>
              </a:tblGrid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 ESTUDIANTES</a:t>
                      </a:r>
                      <a:endParaRPr b="1"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l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1000</a:t>
                      </a:r>
                      <a:endParaRPr sz="1200">
                        <a:solidFill>
                          <a:schemeClr val="lt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9850" y="1187175"/>
            <a:ext cx="5576850" cy="33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1C75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241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7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¿Cómo se relaciona una </a:t>
            </a:r>
            <a:r>
              <a:rPr b="1" lang="es" sz="1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vida saludable</a:t>
            </a:r>
            <a:r>
              <a:rPr lang="es" sz="17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con el éxito en los estudios?</a:t>
            </a:r>
            <a:endParaRPr sz="17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50" y="1060675"/>
            <a:ext cx="2867395" cy="2003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3200" y="1060675"/>
            <a:ext cx="5303975" cy="350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1250" y="3289200"/>
            <a:ext cx="2135325" cy="132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1C75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33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rPr lang="es" sz="17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¿Cómo afecta el tiempo dedicado a las </a:t>
            </a:r>
            <a:r>
              <a:rPr b="1" lang="es" sz="1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redes sociales</a:t>
            </a:r>
            <a:r>
              <a:rPr lang="es" sz="17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y  </a:t>
            </a:r>
            <a:r>
              <a:rPr b="1" lang="es" sz="1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netflix</a:t>
            </a:r>
            <a:r>
              <a:rPr lang="es" sz="17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en el resultado académico? ¿Es importante tener buen </a:t>
            </a:r>
            <a:r>
              <a:rPr b="1" lang="es" sz="1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acceso a internet</a:t>
            </a:r>
            <a:r>
              <a:rPr lang="es" sz="17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para tener buenas notas?</a:t>
            </a:r>
            <a:endParaRPr sz="1700"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50" y="1363375"/>
            <a:ext cx="3833551" cy="27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0625" y="1363375"/>
            <a:ext cx="4254000" cy="278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1C75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7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¿Cuál es el </a:t>
            </a:r>
            <a:r>
              <a:rPr b="1" lang="es" sz="17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hábito más determinante </a:t>
            </a:r>
            <a:r>
              <a:rPr lang="es" sz="17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para el éxito académico?</a:t>
            </a:r>
            <a:endParaRPr sz="3100"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00" y="1159375"/>
            <a:ext cx="4499299" cy="310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075" y="1159375"/>
            <a:ext cx="3167700" cy="214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1C75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42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Insights</a:t>
            </a:r>
            <a:endParaRPr sz="242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216900" y="959975"/>
            <a:ext cx="8615400" cy="36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32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Pregunta </a:t>
            </a:r>
            <a:r>
              <a:rPr lang="es" sz="132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1:</a:t>
            </a:r>
            <a:endParaRPr sz="132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-3043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3"/>
              <a:buFont typeface="Open Sans"/>
              <a:buChar char="❏"/>
            </a:pPr>
            <a:r>
              <a:rPr lang="es" sz="1192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Se observa que aquellos alumnos que llevan una alimentación buena o justa obtienen levemente mejores resultados que aquellos alumnos que se alimentan a base de una dieta pobre.</a:t>
            </a:r>
            <a:endParaRPr sz="1192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3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3"/>
              <a:buFont typeface="Open Sans"/>
              <a:buChar char="❏"/>
            </a:pPr>
            <a:r>
              <a:rPr lang="es" sz="1192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La correlación en entre el resultado del exámen y las horas de sueño es escasamente positiva.</a:t>
            </a:r>
            <a:endParaRPr sz="1192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3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3"/>
              <a:buFont typeface="Open Sans"/>
              <a:buChar char="❏"/>
            </a:pPr>
            <a:r>
              <a:rPr lang="es" sz="1192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Los alumnos que practican ejercicio físico dos o más veces por semana obtienen mejores resultados que los demás. Siendo los que practican 5 o 6 veces por semana los que mejores resultados obtuvieron.</a:t>
            </a:r>
            <a:endParaRPr sz="1192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2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32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Pregunta 2: </a:t>
            </a:r>
            <a:endParaRPr sz="1192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323" lvl="0" marL="457200" marR="0" rtl="0" algn="l">
              <a:lnSpc>
                <a:spcPct val="115714"/>
              </a:lnSpc>
              <a:spcBef>
                <a:spcPts val="95"/>
              </a:spcBef>
              <a:spcAft>
                <a:spcPts val="0"/>
              </a:spcAft>
              <a:buClr>
                <a:schemeClr val="lt1"/>
              </a:buClr>
              <a:buSzPts val="1193"/>
              <a:buFont typeface="Open Sans"/>
              <a:buChar char="❏"/>
            </a:pPr>
            <a:r>
              <a:rPr lang="es" sz="1192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Tanto el tiempo dedicado a las redes sociales como el tiempo usando la plataforma netflix tienen una correlación levemente negativa con la nota de exámen.</a:t>
            </a:r>
            <a:endParaRPr sz="1192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04323" lvl="0" marL="45720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3"/>
              <a:buFont typeface="Open Sans"/>
              <a:buChar char="❏"/>
            </a:pPr>
            <a:r>
              <a:rPr lang="es" sz="1192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En cuanto a la calidad de internet, no hay diferencias considerables en el resultado del exámen entre los alumnos que cuentan con acceso distintas calidades de internet.</a:t>
            </a:r>
            <a:endParaRPr sz="1192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92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s" sz="132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Pregunta 3:</a:t>
            </a:r>
            <a:endParaRPr sz="132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-304323" lvl="0" marL="45720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3"/>
              <a:buFont typeface="Open Sans"/>
              <a:buChar char="❏"/>
            </a:pPr>
            <a:r>
              <a:rPr lang="es" sz="1192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Los hábitos de estudio (horas de estudio por día) resultan ser determinantes para el éxito académico (mejores notas) con una </a:t>
            </a:r>
            <a:r>
              <a:rPr lang="es" sz="1192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correlación</a:t>
            </a:r>
            <a:r>
              <a:rPr lang="es" sz="1192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positiva de 0.83.</a:t>
            </a:r>
            <a:endParaRPr sz="1192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092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530"/>
          </a:p>
        </p:txBody>
      </p:sp>
      <p:pic>
        <p:nvPicPr>
          <p:cNvPr descr="Woman is studying financial business documents at her desk (proporcionado por Getty Images)" id="112" name="Google Shape;112;p21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